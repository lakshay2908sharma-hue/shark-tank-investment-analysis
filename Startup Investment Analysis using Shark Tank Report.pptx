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65" r:id="rId15"/>
    <p:sldId id="273"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3391327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3524666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2802801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1ED251-F534-421F-92C9-C3C955E145A3}"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35869667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1ED251-F534-421F-92C9-C3C955E145A3}" type="datetimeFigureOut">
              <a:rPr lang="en-IN" smtClean="0"/>
              <a:t>19-05-2026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1229445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2353868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261628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9325058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1ED251-F534-421F-92C9-C3C955E145A3}"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460743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1ED251-F534-421F-92C9-C3C955E145A3}" type="datetimeFigureOut">
              <a:rPr lang="en-IN" smtClean="0"/>
              <a:t>19-05-2026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2702245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24975367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497006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1080224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879337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684363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32632009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1ED251-F534-421F-92C9-C3C955E145A3}" type="datetimeFigureOut">
              <a:rPr lang="en-IN" smtClean="0"/>
              <a:t>19-05-2026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12383E-5AB2-4C45-A077-69A3372B7E2A}" type="slidenum">
              <a:rPr lang="en-IN" smtClean="0"/>
              <a:t>‹#›</a:t>
            </a:fld>
            <a:endParaRPr lang="en-IN"/>
          </a:p>
        </p:txBody>
      </p:sp>
    </p:spTree>
    <p:extLst>
      <p:ext uri="{BB962C8B-B14F-4D97-AF65-F5344CB8AC3E}">
        <p14:creationId xmlns:p14="http://schemas.microsoft.com/office/powerpoint/2010/main" val="14716347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61ED251-F534-421F-92C9-C3C955E145A3}" type="datetimeFigureOut">
              <a:rPr lang="en-IN" smtClean="0"/>
              <a:t>19-05-2026</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12383E-5AB2-4C45-A077-69A3372B7E2A}" type="slidenum">
              <a:rPr lang="en-IN" smtClean="0"/>
              <a:t>‹#›</a:t>
            </a:fld>
            <a:endParaRPr lang="en-IN"/>
          </a:p>
        </p:txBody>
      </p:sp>
    </p:spTree>
    <p:extLst>
      <p:ext uri="{BB962C8B-B14F-4D97-AF65-F5344CB8AC3E}">
        <p14:creationId xmlns:p14="http://schemas.microsoft.com/office/powerpoint/2010/main" val="251773166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11EBA-6314-CBA9-478B-D96A836917A4}"/>
              </a:ext>
            </a:extLst>
          </p:cNvPr>
          <p:cNvSpPr>
            <a:spLocks noGrp="1"/>
          </p:cNvSpPr>
          <p:nvPr>
            <p:ph type="ctrTitle"/>
          </p:nvPr>
        </p:nvSpPr>
        <p:spPr/>
        <p:txBody>
          <a:bodyPr/>
          <a:lstStyle/>
          <a:p>
            <a:r>
              <a:rPr lang="en-US" sz="4400" b="1" dirty="0"/>
              <a:t>Startup Investment Analysis using Shark Tank India Dataset</a:t>
            </a:r>
            <a:br>
              <a:rPr lang="en-IN" sz="4400" b="1" dirty="0"/>
            </a:br>
            <a:endParaRPr lang="en-IN" sz="4400" dirty="0"/>
          </a:p>
        </p:txBody>
      </p:sp>
      <p:sp>
        <p:nvSpPr>
          <p:cNvPr id="3" name="Subtitle 2">
            <a:extLst>
              <a:ext uri="{FF2B5EF4-FFF2-40B4-BE49-F238E27FC236}">
                <a16:creationId xmlns:a16="http://schemas.microsoft.com/office/drawing/2014/main" id="{ADAE099F-E28F-7FEC-4A58-97C1281E04CA}"/>
              </a:ext>
            </a:extLst>
          </p:cNvPr>
          <p:cNvSpPr>
            <a:spLocks noGrp="1"/>
          </p:cNvSpPr>
          <p:nvPr>
            <p:ph type="subTitle" idx="1"/>
          </p:nvPr>
        </p:nvSpPr>
        <p:spPr/>
        <p:txBody>
          <a:bodyPr>
            <a:normAutofit/>
          </a:bodyPr>
          <a:lstStyle/>
          <a:p>
            <a:r>
              <a:rPr lang="en-US" dirty="0"/>
              <a:t>Submitted By:</a:t>
            </a:r>
            <a:endParaRPr lang="en-IN" dirty="0"/>
          </a:p>
          <a:p>
            <a:pPr lvl="0"/>
            <a:r>
              <a:rPr lang="en-US" dirty="0"/>
              <a:t>LAKSHAY SHARMA </a:t>
            </a:r>
            <a:endParaRPr lang="en-IN" dirty="0"/>
          </a:p>
          <a:p>
            <a:endParaRPr lang="en-IN" dirty="0"/>
          </a:p>
        </p:txBody>
      </p:sp>
    </p:spTree>
    <p:extLst>
      <p:ext uri="{BB962C8B-B14F-4D97-AF65-F5344CB8AC3E}">
        <p14:creationId xmlns:p14="http://schemas.microsoft.com/office/powerpoint/2010/main" val="519109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94EC3-FD59-F379-D4C6-88239DF3BD20}"/>
              </a:ext>
            </a:extLst>
          </p:cNvPr>
          <p:cNvSpPr>
            <a:spLocks noGrp="1"/>
          </p:cNvSpPr>
          <p:nvPr>
            <p:ph type="title"/>
          </p:nvPr>
        </p:nvSpPr>
        <p:spPr/>
        <p:txBody>
          <a:bodyPr/>
          <a:lstStyle/>
          <a:p>
            <a:r>
              <a:rPr lang="en-US" b="1" dirty="0"/>
              <a:t>ABSTRACT</a:t>
            </a:r>
            <a:br>
              <a:rPr lang="en-IN" b="1" dirty="0"/>
            </a:br>
            <a:endParaRPr lang="en-IN" dirty="0"/>
          </a:p>
        </p:txBody>
      </p:sp>
      <p:sp>
        <p:nvSpPr>
          <p:cNvPr id="3" name="Content Placeholder 2">
            <a:extLst>
              <a:ext uri="{FF2B5EF4-FFF2-40B4-BE49-F238E27FC236}">
                <a16:creationId xmlns:a16="http://schemas.microsoft.com/office/drawing/2014/main" id="{3C259F11-C1F8-FB06-BB58-BCA358619ECB}"/>
              </a:ext>
            </a:extLst>
          </p:cNvPr>
          <p:cNvSpPr>
            <a:spLocks noGrp="1"/>
          </p:cNvSpPr>
          <p:nvPr>
            <p:ph idx="1"/>
          </p:nvPr>
        </p:nvSpPr>
        <p:spPr/>
        <p:txBody>
          <a:bodyPr/>
          <a:lstStyle/>
          <a:p>
            <a:r>
              <a:rPr lang="en-US" dirty="0"/>
              <a:t>This project analyzes startup investment trends using the Shark Tank India dataset. The analysis focuses on industry-wise funding, founder success patterns, shark investment behavior, and business growth trends using Python and Tableau. Various visualizations and dashboards were created to understand investor preferences and startup performance.</a:t>
            </a:r>
            <a:endParaRPr lang="en-IN" dirty="0"/>
          </a:p>
          <a:p>
            <a:endParaRPr lang="en-IN" dirty="0"/>
          </a:p>
        </p:txBody>
      </p:sp>
    </p:spTree>
    <p:extLst>
      <p:ext uri="{BB962C8B-B14F-4D97-AF65-F5344CB8AC3E}">
        <p14:creationId xmlns:p14="http://schemas.microsoft.com/office/powerpoint/2010/main" val="4168103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8102B-6BEC-D80D-415D-2B062CF9E425}"/>
              </a:ext>
            </a:extLst>
          </p:cNvPr>
          <p:cNvSpPr>
            <a:spLocks noGrp="1"/>
          </p:cNvSpPr>
          <p:nvPr>
            <p:ph type="title"/>
          </p:nvPr>
        </p:nvSpPr>
        <p:spPr/>
        <p:txBody>
          <a:bodyPr/>
          <a:lstStyle/>
          <a:p>
            <a:r>
              <a:rPr lang="en-US" b="1" dirty="0"/>
              <a:t>OBJECTIVES</a:t>
            </a:r>
            <a:br>
              <a:rPr lang="en-IN" b="1" dirty="0"/>
            </a:br>
            <a:endParaRPr lang="en-IN" dirty="0"/>
          </a:p>
        </p:txBody>
      </p:sp>
      <p:sp>
        <p:nvSpPr>
          <p:cNvPr id="3" name="Content Placeholder 2">
            <a:extLst>
              <a:ext uri="{FF2B5EF4-FFF2-40B4-BE49-F238E27FC236}">
                <a16:creationId xmlns:a16="http://schemas.microsoft.com/office/drawing/2014/main" id="{DA3E2776-764F-ED74-96F9-E98DD1C059B1}"/>
              </a:ext>
            </a:extLst>
          </p:cNvPr>
          <p:cNvSpPr>
            <a:spLocks noGrp="1"/>
          </p:cNvSpPr>
          <p:nvPr>
            <p:ph idx="1"/>
          </p:nvPr>
        </p:nvSpPr>
        <p:spPr/>
        <p:txBody>
          <a:bodyPr/>
          <a:lstStyle/>
          <a:p>
            <a:pPr lvl="0"/>
            <a:r>
              <a:rPr lang="en-US" dirty="0"/>
              <a:t>Analyze startup investment trends</a:t>
            </a:r>
            <a:endParaRPr lang="en-IN" dirty="0"/>
          </a:p>
          <a:p>
            <a:pPr lvl="0"/>
            <a:r>
              <a:rPr lang="en-US" dirty="0"/>
              <a:t>Identify highly funded industries</a:t>
            </a:r>
            <a:endParaRPr lang="en-IN" dirty="0"/>
          </a:p>
          <a:p>
            <a:pPr lvl="0"/>
            <a:r>
              <a:rPr lang="en-US" dirty="0"/>
              <a:t>Compare shark investment behavior</a:t>
            </a:r>
            <a:endParaRPr lang="en-IN" dirty="0"/>
          </a:p>
          <a:p>
            <a:pPr lvl="0"/>
            <a:r>
              <a:rPr lang="en-US" dirty="0"/>
              <a:t>Study founder success patterns</a:t>
            </a:r>
            <a:endParaRPr lang="en-IN" dirty="0"/>
          </a:p>
          <a:p>
            <a:r>
              <a:rPr lang="en-US" dirty="0"/>
              <a:t>Visualize startup funding trends</a:t>
            </a:r>
            <a:endParaRPr lang="en-IN" dirty="0"/>
          </a:p>
        </p:txBody>
      </p:sp>
    </p:spTree>
    <p:extLst>
      <p:ext uri="{BB962C8B-B14F-4D97-AF65-F5344CB8AC3E}">
        <p14:creationId xmlns:p14="http://schemas.microsoft.com/office/powerpoint/2010/main" val="3530184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CC18D-221D-9420-E071-C524A2991B05}"/>
              </a:ext>
            </a:extLst>
          </p:cNvPr>
          <p:cNvSpPr>
            <a:spLocks noGrp="1"/>
          </p:cNvSpPr>
          <p:nvPr>
            <p:ph type="title"/>
          </p:nvPr>
        </p:nvSpPr>
        <p:spPr/>
        <p:txBody>
          <a:bodyPr/>
          <a:lstStyle/>
          <a:p>
            <a:endParaRPr lang="en-IN"/>
          </a:p>
        </p:txBody>
      </p:sp>
      <p:sp>
        <p:nvSpPr>
          <p:cNvPr id="5" name="Rectangle 1">
            <a:extLst>
              <a:ext uri="{FF2B5EF4-FFF2-40B4-BE49-F238E27FC236}">
                <a16:creationId xmlns:a16="http://schemas.microsoft.com/office/drawing/2014/main" id="{440910B7-7C05-E9C0-938C-6BE3E1F5088B}"/>
              </a:ext>
            </a:extLst>
          </p:cNvPr>
          <p:cNvSpPr>
            <a:spLocks noChangeArrowheads="1"/>
          </p:cNvSpPr>
          <p:nvPr/>
        </p:nvSpPr>
        <p:spPr bwMode="auto">
          <a:xfrm>
            <a:off x="-311084" y="-1441792"/>
            <a:ext cx="12434036" cy="8668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228528" rIns="91440" bIns="50784"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a:ln>
                  <a:noFill/>
                </a:ln>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TOOLS USED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8" name="Content Placeholder 7">
            <a:extLst>
              <a:ext uri="{FF2B5EF4-FFF2-40B4-BE49-F238E27FC236}">
                <a16:creationId xmlns:a16="http://schemas.microsoft.com/office/drawing/2014/main" id="{AC8D243F-66EF-A354-05D0-93AAE7A663CB}"/>
              </a:ext>
            </a:extLst>
          </p:cNvPr>
          <p:cNvGraphicFramePr>
            <a:graphicFrameLocks noGrp="1"/>
          </p:cNvGraphicFramePr>
          <p:nvPr>
            <p:ph idx="1"/>
            <p:extLst>
              <p:ext uri="{D42A27DB-BD31-4B8C-83A1-F6EECF244321}">
                <p14:modId xmlns:p14="http://schemas.microsoft.com/office/powerpoint/2010/main" val="2988741956"/>
              </p:ext>
            </p:extLst>
          </p:nvPr>
        </p:nvGraphicFramePr>
        <p:xfrm>
          <a:off x="546754" y="2064470"/>
          <a:ext cx="10171522" cy="3629322"/>
        </p:xfrm>
        <a:graphic>
          <a:graphicData uri="http://schemas.openxmlformats.org/drawingml/2006/table">
            <a:tbl>
              <a:tblPr firstRow="1" bandRow="1" bandCol="1">
                <a:tableStyleId>{5C22544A-7EE6-4342-B048-85BDC9FD1C3A}</a:tableStyleId>
              </a:tblPr>
              <a:tblGrid>
                <a:gridCol w="5085761">
                  <a:extLst>
                    <a:ext uri="{9D8B030D-6E8A-4147-A177-3AD203B41FA5}">
                      <a16:colId xmlns:a16="http://schemas.microsoft.com/office/drawing/2014/main" val="3434050899"/>
                    </a:ext>
                  </a:extLst>
                </a:gridCol>
                <a:gridCol w="5085761">
                  <a:extLst>
                    <a:ext uri="{9D8B030D-6E8A-4147-A177-3AD203B41FA5}">
                      <a16:colId xmlns:a16="http://schemas.microsoft.com/office/drawing/2014/main" val="3736861062"/>
                    </a:ext>
                  </a:extLst>
                </a:gridCol>
              </a:tblGrid>
              <a:tr h="604887">
                <a:tc>
                  <a:txBody>
                    <a:bodyPr/>
                    <a:lstStyle/>
                    <a:p>
                      <a:pPr>
                        <a:spcBef>
                          <a:spcPts val="180"/>
                        </a:spcBef>
                        <a:spcAft>
                          <a:spcPts val="180"/>
                        </a:spcAft>
                        <a:buNone/>
                      </a:pPr>
                      <a:r>
                        <a:rPr lang="en-US" sz="1200">
                          <a:effectLst/>
                        </a:rPr>
                        <a:t>Tool</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tc>
                  <a:txBody>
                    <a:bodyPr/>
                    <a:lstStyle/>
                    <a:p>
                      <a:pPr>
                        <a:spcBef>
                          <a:spcPts val="180"/>
                        </a:spcBef>
                        <a:spcAft>
                          <a:spcPts val="180"/>
                        </a:spcAft>
                        <a:buNone/>
                      </a:pPr>
                      <a:r>
                        <a:rPr lang="en-US" sz="1200">
                          <a:effectLst/>
                        </a:rPr>
                        <a:t>Purpose</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590975342"/>
                  </a:ext>
                </a:extLst>
              </a:tr>
              <a:tr h="604887">
                <a:tc>
                  <a:txBody>
                    <a:bodyPr/>
                    <a:lstStyle/>
                    <a:p>
                      <a:pPr>
                        <a:spcBef>
                          <a:spcPts val="180"/>
                        </a:spcBef>
                        <a:spcAft>
                          <a:spcPts val="180"/>
                        </a:spcAft>
                        <a:buNone/>
                      </a:pPr>
                      <a:r>
                        <a:rPr lang="en-US" sz="1200">
                          <a:effectLst/>
                        </a:rPr>
                        <a:t>Python</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spcBef>
                          <a:spcPts val="180"/>
                        </a:spcBef>
                        <a:spcAft>
                          <a:spcPts val="180"/>
                        </a:spcAft>
                        <a:buNone/>
                      </a:pPr>
                      <a:r>
                        <a:rPr lang="en-US" sz="1200">
                          <a:effectLst/>
                        </a:rPr>
                        <a:t>Data cleaning and analysis</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8943354"/>
                  </a:ext>
                </a:extLst>
              </a:tr>
              <a:tr h="604887">
                <a:tc>
                  <a:txBody>
                    <a:bodyPr/>
                    <a:lstStyle/>
                    <a:p>
                      <a:pPr>
                        <a:spcBef>
                          <a:spcPts val="180"/>
                        </a:spcBef>
                        <a:spcAft>
                          <a:spcPts val="180"/>
                        </a:spcAft>
                        <a:buNone/>
                      </a:pPr>
                      <a:r>
                        <a:rPr lang="en-US" sz="1200">
                          <a:effectLst/>
                        </a:rPr>
                        <a:t>Pandas</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spcBef>
                          <a:spcPts val="180"/>
                        </a:spcBef>
                        <a:spcAft>
                          <a:spcPts val="180"/>
                        </a:spcAft>
                        <a:buNone/>
                      </a:pPr>
                      <a:r>
                        <a:rPr lang="en-US" sz="1200">
                          <a:effectLst/>
                        </a:rPr>
                        <a:t>Data manipulation</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22003752"/>
                  </a:ext>
                </a:extLst>
              </a:tr>
              <a:tr h="604887">
                <a:tc>
                  <a:txBody>
                    <a:bodyPr/>
                    <a:lstStyle/>
                    <a:p>
                      <a:pPr>
                        <a:spcBef>
                          <a:spcPts val="180"/>
                        </a:spcBef>
                        <a:spcAft>
                          <a:spcPts val="180"/>
                        </a:spcAft>
                        <a:buNone/>
                      </a:pPr>
                      <a:r>
                        <a:rPr lang="en-US" sz="1200">
                          <a:effectLst/>
                        </a:rPr>
                        <a:t>Matplotlib</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spcBef>
                          <a:spcPts val="180"/>
                        </a:spcBef>
                        <a:spcAft>
                          <a:spcPts val="180"/>
                        </a:spcAft>
                        <a:buNone/>
                      </a:pPr>
                      <a:r>
                        <a:rPr lang="en-US" sz="1200">
                          <a:effectLst/>
                        </a:rPr>
                        <a:t>Data visualization</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40451813"/>
                  </a:ext>
                </a:extLst>
              </a:tr>
              <a:tr h="604887">
                <a:tc>
                  <a:txBody>
                    <a:bodyPr/>
                    <a:lstStyle/>
                    <a:p>
                      <a:pPr>
                        <a:spcBef>
                          <a:spcPts val="180"/>
                        </a:spcBef>
                        <a:spcAft>
                          <a:spcPts val="180"/>
                        </a:spcAft>
                        <a:buNone/>
                      </a:pPr>
                      <a:r>
                        <a:rPr lang="en-US" sz="1200">
                          <a:effectLst/>
                        </a:rPr>
                        <a:t>Tableau</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spcBef>
                          <a:spcPts val="180"/>
                        </a:spcBef>
                        <a:spcAft>
                          <a:spcPts val="180"/>
                        </a:spcAft>
                        <a:buNone/>
                      </a:pPr>
                      <a:r>
                        <a:rPr lang="en-US" sz="1200">
                          <a:effectLst/>
                        </a:rPr>
                        <a:t>Interactive dashboard</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72822467"/>
                  </a:ext>
                </a:extLst>
              </a:tr>
              <a:tr h="604887">
                <a:tc>
                  <a:txBody>
                    <a:bodyPr/>
                    <a:lstStyle/>
                    <a:p>
                      <a:pPr>
                        <a:spcBef>
                          <a:spcPts val="180"/>
                        </a:spcBef>
                        <a:spcAft>
                          <a:spcPts val="180"/>
                        </a:spcAft>
                        <a:buNone/>
                      </a:pPr>
                      <a:r>
                        <a:rPr lang="en-US" sz="1200">
                          <a:effectLst/>
                        </a:rPr>
                        <a:t>VS Code</a:t>
                      </a:r>
                      <a:endParaRPr lang="en-IN" sz="12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spcBef>
                          <a:spcPts val="180"/>
                        </a:spcBef>
                        <a:spcAft>
                          <a:spcPts val="180"/>
                        </a:spcAft>
                        <a:buNone/>
                      </a:pPr>
                      <a:r>
                        <a:rPr lang="en-US" sz="1200" dirty="0">
                          <a:effectLst/>
                        </a:rPr>
                        <a:t>Python development</a:t>
                      </a:r>
                      <a:endParaRPr lang="en-IN" sz="12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92463947"/>
                  </a:ext>
                </a:extLst>
              </a:tr>
            </a:tbl>
          </a:graphicData>
        </a:graphic>
      </p:graphicFrame>
    </p:spTree>
    <p:extLst>
      <p:ext uri="{BB962C8B-B14F-4D97-AF65-F5344CB8AC3E}">
        <p14:creationId xmlns:p14="http://schemas.microsoft.com/office/powerpoint/2010/main" val="288279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784BA-DD0F-100D-0FC9-4EBDE987691A}"/>
              </a:ext>
            </a:extLst>
          </p:cNvPr>
          <p:cNvSpPr>
            <a:spLocks noGrp="1"/>
          </p:cNvSpPr>
          <p:nvPr>
            <p:ph type="title"/>
          </p:nvPr>
        </p:nvSpPr>
        <p:spPr/>
        <p:txBody>
          <a:bodyPr/>
          <a:lstStyle/>
          <a:p>
            <a:r>
              <a:rPr lang="en-US" b="1" dirty="0"/>
              <a:t>DATASET DESCRIPTION</a:t>
            </a:r>
            <a:br>
              <a:rPr lang="en-IN" b="1" dirty="0"/>
            </a:br>
            <a:endParaRPr lang="en-IN" dirty="0"/>
          </a:p>
        </p:txBody>
      </p:sp>
      <p:sp>
        <p:nvSpPr>
          <p:cNvPr id="3" name="Content Placeholder 2">
            <a:extLst>
              <a:ext uri="{FF2B5EF4-FFF2-40B4-BE49-F238E27FC236}">
                <a16:creationId xmlns:a16="http://schemas.microsoft.com/office/drawing/2014/main" id="{ADD05447-478D-29AE-F34C-186B23AE2911}"/>
              </a:ext>
            </a:extLst>
          </p:cNvPr>
          <p:cNvSpPr>
            <a:spLocks noGrp="1"/>
          </p:cNvSpPr>
          <p:nvPr>
            <p:ph idx="1"/>
          </p:nvPr>
        </p:nvSpPr>
        <p:spPr>
          <a:xfrm>
            <a:off x="1104293" y="2100053"/>
            <a:ext cx="8946541" cy="4195481"/>
          </a:xfrm>
        </p:spPr>
        <p:txBody>
          <a:bodyPr>
            <a:normAutofit fontScale="85000" lnSpcReduction="20000"/>
          </a:bodyPr>
          <a:lstStyle/>
          <a:p>
            <a:r>
              <a:rPr lang="en-US" dirty="0"/>
              <a:t>The dataset contains startup pitch information from Shark Tank India including:</a:t>
            </a:r>
            <a:endParaRPr lang="en-IN" dirty="0"/>
          </a:p>
          <a:p>
            <a:pPr lvl="0"/>
            <a:r>
              <a:rPr lang="en-US" dirty="0"/>
              <a:t>Startup name</a:t>
            </a:r>
            <a:endParaRPr lang="en-IN" dirty="0"/>
          </a:p>
          <a:p>
            <a:pPr lvl="0"/>
            <a:r>
              <a:rPr lang="en-US" dirty="0"/>
              <a:t>Industry</a:t>
            </a:r>
            <a:endParaRPr lang="en-IN" dirty="0"/>
          </a:p>
          <a:p>
            <a:pPr lvl="0"/>
            <a:r>
              <a:rPr lang="en-US" dirty="0"/>
              <a:t>Founder details</a:t>
            </a:r>
            <a:endParaRPr lang="en-IN" dirty="0"/>
          </a:p>
          <a:p>
            <a:pPr lvl="0"/>
            <a:r>
              <a:rPr lang="en-US" dirty="0"/>
              <a:t>Investment amount</a:t>
            </a:r>
            <a:endParaRPr lang="en-IN" dirty="0"/>
          </a:p>
          <a:p>
            <a:pPr lvl="0"/>
            <a:r>
              <a:rPr lang="en-US" dirty="0"/>
              <a:t>Shark investments</a:t>
            </a:r>
            <a:endParaRPr lang="en-IN" dirty="0"/>
          </a:p>
          <a:p>
            <a:pPr lvl="0"/>
            <a:r>
              <a:rPr lang="en-US" dirty="0"/>
              <a:t>Revenue</a:t>
            </a:r>
            <a:endParaRPr lang="en-IN" dirty="0"/>
          </a:p>
          <a:p>
            <a:pPr lvl="0"/>
            <a:r>
              <a:rPr lang="en-US" dirty="0"/>
              <a:t>Deal valuation</a:t>
            </a:r>
            <a:endParaRPr lang="en-IN" dirty="0"/>
          </a:p>
          <a:p>
            <a:pPr lvl="0"/>
            <a:r>
              <a:rPr lang="en-US" dirty="0"/>
              <a:t>Accepted offers</a:t>
            </a:r>
            <a:endParaRPr lang="en-IN" dirty="0"/>
          </a:p>
          <a:p>
            <a:r>
              <a:rPr lang="en-US" dirty="0"/>
              <a:t>Dataset Size:</a:t>
            </a:r>
            <a:endParaRPr lang="en-IN" dirty="0"/>
          </a:p>
          <a:p>
            <a:pPr lvl="0"/>
            <a:r>
              <a:rPr lang="en-US" dirty="0"/>
              <a:t>Rows: 789</a:t>
            </a:r>
            <a:endParaRPr lang="en-IN" dirty="0"/>
          </a:p>
          <a:p>
            <a:pPr lvl="0"/>
            <a:r>
              <a:rPr lang="en-US" dirty="0"/>
              <a:t>Columns: 80</a:t>
            </a:r>
            <a:endParaRPr lang="en-IN" dirty="0"/>
          </a:p>
          <a:p>
            <a:endParaRPr lang="en-IN" dirty="0"/>
          </a:p>
        </p:txBody>
      </p:sp>
    </p:spTree>
    <p:extLst>
      <p:ext uri="{BB962C8B-B14F-4D97-AF65-F5344CB8AC3E}">
        <p14:creationId xmlns:p14="http://schemas.microsoft.com/office/powerpoint/2010/main" val="1907520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61244-A991-8D33-3C2F-4BD99B4FE328}"/>
              </a:ext>
            </a:extLst>
          </p:cNvPr>
          <p:cNvSpPr>
            <a:spLocks noGrp="1"/>
          </p:cNvSpPr>
          <p:nvPr>
            <p:ph type="title"/>
          </p:nvPr>
        </p:nvSpPr>
        <p:spPr/>
        <p:txBody>
          <a:bodyPr/>
          <a:lstStyle/>
          <a:p>
            <a:r>
              <a:rPr lang="en-US" b="1" dirty="0"/>
              <a:t>DATA CLEANING</a:t>
            </a:r>
            <a:br>
              <a:rPr lang="en-IN" b="1" dirty="0"/>
            </a:br>
            <a:endParaRPr lang="en-IN" dirty="0"/>
          </a:p>
        </p:txBody>
      </p:sp>
      <p:sp>
        <p:nvSpPr>
          <p:cNvPr id="6" name="Content Placeholder 5">
            <a:extLst>
              <a:ext uri="{FF2B5EF4-FFF2-40B4-BE49-F238E27FC236}">
                <a16:creationId xmlns:a16="http://schemas.microsoft.com/office/drawing/2014/main" id="{13E6025B-276A-C176-B885-6E9A3CB164F5}"/>
              </a:ext>
            </a:extLst>
          </p:cNvPr>
          <p:cNvSpPr>
            <a:spLocks noGrp="1"/>
          </p:cNvSpPr>
          <p:nvPr>
            <p:ph idx="1"/>
          </p:nvPr>
        </p:nvSpPr>
        <p:spPr/>
        <p:txBody>
          <a:bodyPr/>
          <a:lstStyle/>
          <a:p>
            <a:r>
              <a:rPr lang="en-US" dirty="0"/>
              <a:t>Loading dataset:</a:t>
            </a:r>
          </a:p>
          <a:p>
            <a:endParaRPr lang="en-US" dirty="0"/>
          </a:p>
        </p:txBody>
      </p:sp>
      <p:pic>
        <p:nvPicPr>
          <p:cNvPr id="7" name="Picture 6">
            <a:extLst>
              <a:ext uri="{FF2B5EF4-FFF2-40B4-BE49-F238E27FC236}">
                <a16:creationId xmlns:a16="http://schemas.microsoft.com/office/drawing/2014/main" id="{EBB99F97-0A99-98CB-1099-FC525BF25E1E}"/>
              </a:ext>
            </a:extLst>
          </p:cNvPr>
          <p:cNvPicPr>
            <a:picLocks noChangeAspect="1"/>
          </p:cNvPicPr>
          <p:nvPr/>
        </p:nvPicPr>
        <p:blipFill>
          <a:blip r:embed="rId2"/>
          <a:stretch>
            <a:fillRect/>
          </a:stretch>
        </p:blipFill>
        <p:spPr>
          <a:xfrm>
            <a:off x="568362" y="2479250"/>
            <a:ext cx="4705163" cy="4284482"/>
          </a:xfrm>
          <a:prstGeom prst="rect">
            <a:avLst/>
          </a:prstGeom>
        </p:spPr>
      </p:pic>
    </p:spTree>
    <p:extLst>
      <p:ext uri="{BB962C8B-B14F-4D97-AF65-F5344CB8AC3E}">
        <p14:creationId xmlns:p14="http://schemas.microsoft.com/office/powerpoint/2010/main" val="29095336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F8A0F-2825-A6E2-5F71-B4EC71741C44}"/>
              </a:ext>
            </a:extLst>
          </p:cNvPr>
          <p:cNvSpPr>
            <a:spLocks noGrp="1"/>
          </p:cNvSpPr>
          <p:nvPr>
            <p:ph type="title"/>
          </p:nvPr>
        </p:nvSpPr>
        <p:spPr>
          <a:xfrm>
            <a:off x="881781" y="0"/>
            <a:ext cx="9404723" cy="1400530"/>
          </a:xfrm>
        </p:spPr>
        <p:txBody>
          <a:bodyPr/>
          <a:lstStyle/>
          <a:p>
            <a:endParaRPr lang="en-IN" dirty="0"/>
          </a:p>
        </p:txBody>
      </p:sp>
      <p:pic>
        <p:nvPicPr>
          <p:cNvPr id="4" name="Content Placeholder 3">
            <a:extLst>
              <a:ext uri="{FF2B5EF4-FFF2-40B4-BE49-F238E27FC236}">
                <a16:creationId xmlns:a16="http://schemas.microsoft.com/office/drawing/2014/main" id="{9A7FBD3D-5F31-7E29-B79B-2749716DA99F}"/>
              </a:ext>
            </a:extLst>
          </p:cNvPr>
          <p:cNvPicPr>
            <a:picLocks noGrp="1" noChangeAspect="1"/>
          </p:cNvPicPr>
          <p:nvPr>
            <p:ph idx="1"/>
          </p:nvPr>
        </p:nvPicPr>
        <p:blipFill>
          <a:blip r:embed="rId2"/>
          <a:stretch>
            <a:fillRect/>
          </a:stretch>
        </p:blipFill>
        <p:spPr>
          <a:xfrm>
            <a:off x="193624" y="969992"/>
            <a:ext cx="6802760" cy="2004309"/>
          </a:xfrm>
          <a:prstGeom prst="rect">
            <a:avLst/>
          </a:prstGeom>
        </p:spPr>
      </p:pic>
      <p:pic>
        <p:nvPicPr>
          <p:cNvPr id="5" name="Picture 4">
            <a:extLst>
              <a:ext uri="{FF2B5EF4-FFF2-40B4-BE49-F238E27FC236}">
                <a16:creationId xmlns:a16="http://schemas.microsoft.com/office/drawing/2014/main" id="{EEE5F750-36E4-0945-490E-CB73301457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44858" y="3084984"/>
            <a:ext cx="7396905" cy="3631253"/>
          </a:xfrm>
          <a:prstGeom prst="rect">
            <a:avLst/>
          </a:prstGeom>
        </p:spPr>
      </p:pic>
    </p:spTree>
    <p:extLst>
      <p:ext uri="{BB962C8B-B14F-4D97-AF65-F5344CB8AC3E}">
        <p14:creationId xmlns:p14="http://schemas.microsoft.com/office/powerpoint/2010/main" val="36365196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AE48-1D73-C6E4-AC34-196810C96743}"/>
              </a:ext>
            </a:extLst>
          </p:cNvPr>
          <p:cNvSpPr>
            <a:spLocks noGrp="1"/>
          </p:cNvSpPr>
          <p:nvPr>
            <p:ph type="title"/>
          </p:nvPr>
        </p:nvSpPr>
        <p:spPr>
          <a:xfrm>
            <a:off x="364490" y="251828"/>
            <a:ext cx="8589679" cy="254292"/>
          </a:xfrm>
        </p:spPr>
        <p:txBody>
          <a:bodyPr/>
          <a:lstStyle/>
          <a:p>
            <a:endParaRPr lang="en-IN" dirty="0"/>
          </a:p>
        </p:txBody>
      </p:sp>
      <p:pic>
        <p:nvPicPr>
          <p:cNvPr id="4" name="Content Placeholder 3">
            <a:extLst>
              <a:ext uri="{FF2B5EF4-FFF2-40B4-BE49-F238E27FC236}">
                <a16:creationId xmlns:a16="http://schemas.microsoft.com/office/drawing/2014/main" id="{F2044480-E3D2-2C3B-4C60-E204017BBCAA}"/>
              </a:ext>
            </a:extLst>
          </p:cNvPr>
          <p:cNvPicPr>
            <a:picLocks noGrp="1" noChangeAspect="1"/>
          </p:cNvPicPr>
          <p:nvPr>
            <p:ph idx="1"/>
          </p:nvPr>
        </p:nvPicPr>
        <p:blipFill>
          <a:blip r:embed="rId2"/>
          <a:stretch>
            <a:fillRect/>
          </a:stretch>
        </p:blipFill>
        <p:spPr>
          <a:xfrm>
            <a:off x="2653643" y="829897"/>
            <a:ext cx="7071973" cy="1745131"/>
          </a:xfrm>
          <a:prstGeom prst="rect">
            <a:avLst/>
          </a:prstGeom>
        </p:spPr>
      </p:pic>
      <p:pic>
        <p:nvPicPr>
          <p:cNvPr id="5" name="Picture 4">
            <a:extLst>
              <a:ext uri="{FF2B5EF4-FFF2-40B4-BE49-F238E27FC236}">
                <a16:creationId xmlns:a16="http://schemas.microsoft.com/office/drawing/2014/main" id="{C34FE1D8-057A-EE2D-5031-838748354A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490" y="2581542"/>
            <a:ext cx="5731510" cy="4024630"/>
          </a:xfrm>
          <a:prstGeom prst="rect">
            <a:avLst/>
          </a:prstGeom>
        </p:spPr>
      </p:pic>
      <p:pic>
        <p:nvPicPr>
          <p:cNvPr id="6" name="Picture 5">
            <a:extLst>
              <a:ext uri="{FF2B5EF4-FFF2-40B4-BE49-F238E27FC236}">
                <a16:creationId xmlns:a16="http://schemas.microsoft.com/office/drawing/2014/main" id="{6F7DF539-75A6-79E5-618D-9671799AE94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86097" y="2581542"/>
            <a:ext cx="5209887" cy="3907704"/>
          </a:xfrm>
          <a:prstGeom prst="rect">
            <a:avLst/>
          </a:prstGeom>
        </p:spPr>
      </p:pic>
    </p:spTree>
    <p:extLst>
      <p:ext uri="{BB962C8B-B14F-4D97-AF65-F5344CB8AC3E}">
        <p14:creationId xmlns:p14="http://schemas.microsoft.com/office/powerpoint/2010/main" val="3340273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155B3-C321-AFFB-8224-F230B8252CDC}"/>
              </a:ext>
            </a:extLst>
          </p:cNvPr>
          <p:cNvSpPr>
            <a:spLocks noGrp="1"/>
          </p:cNvSpPr>
          <p:nvPr>
            <p:ph type="title"/>
          </p:nvPr>
        </p:nvSpPr>
        <p:spPr>
          <a:xfrm>
            <a:off x="226243" y="169914"/>
            <a:ext cx="8372863" cy="156883"/>
          </a:xfrm>
        </p:spPr>
        <p:txBody>
          <a:bodyPr/>
          <a:lstStyle/>
          <a:p>
            <a:endParaRPr lang="en-IN"/>
          </a:p>
        </p:txBody>
      </p:sp>
      <p:pic>
        <p:nvPicPr>
          <p:cNvPr id="4" name="Picture 3">
            <a:extLst>
              <a:ext uri="{FF2B5EF4-FFF2-40B4-BE49-F238E27FC236}">
                <a16:creationId xmlns:a16="http://schemas.microsoft.com/office/drawing/2014/main" id="{96F80BEE-75AC-8D32-1DFF-3A11842A86AB}"/>
              </a:ext>
            </a:extLst>
          </p:cNvPr>
          <p:cNvPicPr>
            <a:picLocks noChangeAspect="1"/>
          </p:cNvPicPr>
          <p:nvPr/>
        </p:nvPicPr>
        <p:blipFill>
          <a:blip r:embed="rId2"/>
          <a:stretch>
            <a:fillRect/>
          </a:stretch>
        </p:blipFill>
        <p:spPr>
          <a:xfrm>
            <a:off x="255137" y="1160482"/>
            <a:ext cx="5074920" cy="3093720"/>
          </a:xfrm>
          <a:prstGeom prst="rect">
            <a:avLst/>
          </a:prstGeom>
        </p:spPr>
      </p:pic>
      <p:pic>
        <p:nvPicPr>
          <p:cNvPr id="5" name="Content Placeholder 4">
            <a:extLst>
              <a:ext uri="{FF2B5EF4-FFF2-40B4-BE49-F238E27FC236}">
                <a16:creationId xmlns:a16="http://schemas.microsoft.com/office/drawing/2014/main" id="{9EDCA97C-83AF-DCA5-7DE0-A9CECDA74D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465926" y="2156320"/>
            <a:ext cx="5594350" cy="4195763"/>
          </a:xfrm>
          <a:prstGeom prst="rect">
            <a:avLst/>
          </a:prstGeom>
        </p:spPr>
      </p:pic>
    </p:spTree>
    <p:extLst>
      <p:ext uri="{BB962C8B-B14F-4D97-AF65-F5344CB8AC3E}">
        <p14:creationId xmlns:p14="http://schemas.microsoft.com/office/powerpoint/2010/main" val="35161400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9C5EE86-2C6B-886A-4D9C-4B37A17A0DD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1914" y="961534"/>
            <a:ext cx="8811442" cy="5286866"/>
          </a:xfrm>
        </p:spPr>
      </p:pic>
    </p:spTree>
    <p:extLst>
      <p:ext uri="{BB962C8B-B14F-4D97-AF65-F5344CB8AC3E}">
        <p14:creationId xmlns:p14="http://schemas.microsoft.com/office/powerpoint/2010/main" val="626246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DA8F4-A890-59F4-12F3-BBA66E8A5090}"/>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93DEBB63-ECC8-7197-26AC-63B205F1217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0420" y="2052638"/>
            <a:ext cx="6992936" cy="4195762"/>
          </a:xfrm>
        </p:spPr>
      </p:pic>
    </p:spTree>
    <p:extLst>
      <p:ext uri="{BB962C8B-B14F-4D97-AF65-F5344CB8AC3E}">
        <p14:creationId xmlns:p14="http://schemas.microsoft.com/office/powerpoint/2010/main" val="202685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C2AD5-BFEB-3C69-E02B-A9C9CBFAAD4D}"/>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8AEBAD01-531A-FF7E-21A8-398C7CC0B66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79007" y="2052638"/>
            <a:ext cx="4195762" cy="4195762"/>
          </a:xfrm>
        </p:spPr>
      </p:pic>
    </p:spTree>
    <p:extLst>
      <p:ext uri="{BB962C8B-B14F-4D97-AF65-F5344CB8AC3E}">
        <p14:creationId xmlns:p14="http://schemas.microsoft.com/office/powerpoint/2010/main" val="3683578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C048D-B3C6-C2BE-0566-CC3ECC3EFD9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332BEE5-6E6B-08E5-4E32-6C7BC05DB0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79713" y="2052638"/>
            <a:ext cx="5594349" cy="4195762"/>
          </a:xfrm>
        </p:spPr>
      </p:pic>
    </p:spTree>
    <p:extLst>
      <p:ext uri="{BB962C8B-B14F-4D97-AF65-F5344CB8AC3E}">
        <p14:creationId xmlns:p14="http://schemas.microsoft.com/office/powerpoint/2010/main" val="2154851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8A8D8-217B-6A9D-600E-E3EAF1260323}"/>
              </a:ext>
            </a:extLst>
          </p:cNvPr>
          <p:cNvSpPr>
            <a:spLocks noGrp="1"/>
          </p:cNvSpPr>
          <p:nvPr>
            <p:ph type="title"/>
          </p:nvPr>
        </p:nvSpPr>
        <p:spPr/>
        <p:txBody>
          <a:bodyPr/>
          <a:lstStyle/>
          <a:p>
            <a:r>
              <a:rPr lang="en-US" b="1" dirty="0"/>
              <a:t>KEY FINDINGS</a:t>
            </a:r>
            <a:br>
              <a:rPr lang="en-IN" b="1" dirty="0"/>
            </a:br>
            <a:endParaRPr lang="en-IN" dirty="0"/>
          </a:p>
        </p:txBody>
      </p:sp>
      <p:sp>
        <p:nvSpPr>
          <p:cNvPr id="3" name="Content Placeholder 2">
            <a:extLst>
              <a:ext uri="{FF2B5EF4-FFF2-40B4-BE49-F238E27FC236}">
                <a16:creationId xmlns:a16="http://schemas.microsoft.com/office/drawing/2014/main" id="{E1DB4345-A12A-8D7C-4BE9-59AB00A8E797}"/>
              </a:ext>
            </a:extLst>
          </p:cNvPr>
          <p:cNvSpPr>
            <a:spLocks noGrp="1"/>
          </p:cNvSpPr>
          <p:nvPr>
            <p:ph idx="1"/>
          </p:nvPr>
        </p:nvSpPr>
        <p:spPr/>
        <p:txBody>
          <a:bodyPr/>
          <a:lstStyle/>
          <a:p>
            <a:pPr lvl="0"/>
            <a:r>
              <a:rPr lang="en-US" dirty="0"/>
              <a:t>Food industry dominated startup participation.</a:t>
            </a:r>
            <a:endParaRPr lang="en-IN" dirty="0"/>
          </a:p>
          <a:p>
            <a:pPr lvl="0"/>
            <a:r>
              <a:rPr lang="en-US" dirty="0"/>
              <a:t>Consumer-focused businesses received higher investments.</a:t>
            </a:r>
            <a:endParaRPr lang="en-IN" dirty="0"/>
          </a:p>
          <a:p>
            <a:pPr lvl="0"/>
            <a:r>
              <a:rPr lang="en-US" dirty="0"/>
              <a:t>Shark investors preferred scalable startups.</a:t>
            </a:r>
            <a:endParaRPr lang="en-IN" dirty="0"/>
          </a:p>
          <a:p>
            <a:pPr lvl="0"/>
            <a:r>
              <a:rPr lang="en-US" dirty="0"/>
              <a:t>Revenue performance influenced funding decisions.</a:t>
            </a:r>
            <a:endParaRPr lang="en-IN" dirty="0"/>
          </a:p>
          <a:p>
            <a:pPr lvl="0"/>
            <a:r>
              <a:rPr lang="en-US" dirty="0"/>
              <a:t>Multiple shark collaborations were common.</a:t>
            </a:r>
            <a:endParaRPr lang="en-IN" dirty="0"/>
          </a:p>
          <a:p>
            <a:endParaRPr lang="en-IN" dirty="0"/>
          </a:p>
        </p:txBody>
      </p:sp>
    </p:spTree>
    <p:extLst>
      <p:ext uri="{BB962C8B-B14F-4D97-AF65-F5344CB8AC3E}">
        <p14:creationId xmlns:p14="http://schemas.microsoft.com/office/powerpoint/2010/main" val="33505851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51165-B9FE-1617-1E48-7A888AE6D342}"/>
              </a:ext>
            </a:extLst>
          </p:cNvPr>
          <p:cNvSpPr>
            <a:spLocks noGrp="1"/>
          </p:cNvSpPr>
          <p:nvPr>
            <p:ph type="title"/>
          </p:nvPr>
        </p:nvSpPr>
        <p:spPr/>
        <p:txBody>
          <a:bodyPr/>
          <a:lstStyle/>
          <a:p>
            <a:r>
              <a:rPr lang="en-US" b="1" dirty="0"/>
              <a:t>CONCLUSION</a:t>
            </a:r>
            <a:br>
              <a:rPr lang="en-IN" b="1" dirty="0"/>
            </a:br>
            <a:endParaRPr lang="en-IN" dirty="0"/>
          </a:p>
        </p:txBody>
      </p:sp>
      <p:sp>
        <p:nvSpPr>
          <p:cNvPr id="3" name="Content Placeholder 2">
            <a:extLst>
              <a:ext uri="{FF2B5EF4-FFF2-40B4-BE49-F238E27FC236}">
                <a16:creationId xmlns:a16="http://schemas.microsoft.com/office/drawing/2014/main" id="{CB71DC04-4234-9CA5-BCDA-487C4501CD72}"/>
              </a:ext>
            </a:extLst>
          </p:cNvPr>
          <p:cNvSpPr>
            <a:spLocks noGrp="1"/>
          </p:cNvSpPr>
          <p:nvPr>
            <p:ph idx="1"/>
          </p:nvPr>
        </p:nvSpPr>
        <p:spPr/>
        <p:txBody>
          <a:bodyPr/>
          <a:lstStyle/>
          <a:p>
            <a:r>
              <a:rPr lang="en-US" dirty="0"/>
              <a:t>The project successfully analyzed startup investment trends using Shark Tank India data. Data analysis and visualization helped identify investor preferences, funding patterns, and industry growth opportunities. Tableau dashboards provided clear business insights through interactive visualizations.</a:t>
            </a:r>
            <a:endParaRPr lang="en-IN" dirty="0"/>
          </a:p>
        </p:txBody>
      </p:sp>
    </p:spTree>
    <p:extLst>
      <p:ext uri="{BB962C8B-B14F-4D97-AF65-F5344CB8AC3E}">
        <p14:creationId xmlns:p14="http://schemas.microsoft.com/office/powerpoint/2010/main" val="3916073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86B9-D3FC-C232-1BAC-C2EB8FAE486B}"/>
              </a:ext>
            </a:extLst>
          </p:cNvPr>
          <p:cNvSpPr>
            <a:spLocks noGrp="1"/>
          </p:cNvSpPr>
          <p:nvPr>
            <p:ph type="title"/>
          </p:nvPr>
        </p:nvSpPr>
        <p:spPr/>
        <p:txBody>
          <a:bodyPr/>
          <a:lstStyle/>
          <a:p>
            <a:r>
              <a:rPr lang="en-US" b="1" dirty="0"/>
              <a:t>REFERENCES</a:t>
            </a:r>
            <a:br>
              <a:rPr lang="en-IN" b="1" dirty="0"/>
            </a:br>
            <a:endParaRPr lang="en-IN" dirty="0"/>
          </a:p>
        </p:txBody>
      </p:sp>
      <p:sp>
        <p:nvSpPr>
          <p:cNvPr id="3" name="Content Placeholder 2">
            <a:extLst>
              <a:ext uri="{FF2B5EF4-FFF2-40B4-BE49-F238E27FC236}">
                <a16:creationId xmlns:a16="http://schemas.microsoft.com/office/drawing/2014/main" id="{3BE8B300-28E1-C201-202B-22A1D07B85F9}"/>
              </a:ext>
            </a:extLst>
          </p:cNvPr>
          <p:cNvSpPr>
            <a:spLocks noGrp="1"/>
          </p:cNvSpPr>
          <p:nvPr>
            <p:ph idx="1"/>
          </p:nvPr>
        </p:nvSpPr>
        <p:spPr/>
        <p:txBody>
          <a:bodyPr/>
          <a:lstStyle/>
          <a:p>
            <a:pPr lvl="0"/>
            <a:r>
              <a:rPr lang="en-US" dirty="0"/>
              <a:t>Kaggle Dataset</a:t>
            </a:r>
            <a:endParaRPr lang="en-IN" dirty="0"/>
          </a:p>
          <a:p>
            <a:pPr lvl="0"/>
            <a:r>
              <a:rPr lang="en-US" dirty="0"/>
              <a:t>Python Documentation</a:t>
            </a:r>
            <a:endParaRPr lang="en-IN" dirty="0"/>
          </a:p>
          <a:p>
            <a:pPr lvl="0"/>
            <a:r>
              <a:rPr lang="en-US" dirty="0"/>
              <a:t>Tableau Documentation</a:t>
            </a:r>
            <a:endParaRPr lang="en-IN" dirty="0"/>
          </a:p>
          <a:p>
            <a:pPr lvl="0"/>
            <a:r>
              <a:rPr lang="en-US" dirty="0"/>
              <a:t>Pandas Documentation</a:t>
            </a:r>
            <a:endParaRPr lang="en-IN" dirty="0"/>
          </a:p>
          <a:p>
            <a:endParaRPr lang="en-IN" dirty="0"/>
          </a:p>
        </p:txBody>
      </p:sp>
    </p:spTree>
    <p:extLst>
      <p:ext uri="{BB962C8B-B14F-4D97-AF65-F5344CB8AC3E}">
        <p14:creationId xmlns:p14="http://schemas.microsoft.com/office/powerpoint/2010/main" val="332423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B52FB-D4A7-BFA5-FFB6-B0532CFE6254}"/>
              </a:ext>
            </a:extLst>
          </p:cNvPr>
          <p:cNvSpPr>
            <a:spLocks noGrp="1"/>
          </p:cNvSpPr>
          <p:nvPr>
            <p:ph type="title"/>
          </p:nvPr>
        </p:nvSpPr>
        <p:spPr/>
        <p:txBody>
          <a:bodyPr/>
          <a:lstStyle/>
          <a:p>
            <a:r>
              <a:rPr lang="en-IN"/>
              <a:t>Thank you</a:t>
            </a:r>
          </a:p>
        </p:txBody>
      </p:sp>
      <p:sp>
        <p:nvSpPr>
          <p:cNvPr id="3" name="Content Placeholder 2">
            <a:extLst>
              <a:ext uri="{FF2B5EF4-FFF2-40B4-BE49-F238E27FC236}">
                <a16:creationId xmlns:a16="http://schemas.microsoft.com/office/drawing/2014/main" id="{5088F7EB-22AD-1FA3-0EC3-D74D1C3423D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9827491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28</TotalTime>
  <Words>243</Words>
  <Application>Microsoft Office PowerPoint</Application>
  <PresentationFormat>Widescreen</PresentationFormat>
  <Paragraphs>53</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Aptos Display</vt:lpstr>
      <vt:lpstr>Arial</vt:lpstr>
      <vt:lpstr>Century Gothic</vt:lpstr>
      <vt:lpstr>Wingdings 3</vt:lpstr>
      <vt:lpstr>Ion</vt:lpstr>
      <vt:lpstr>Startup Investment Analysis using Shark Tank India Dataset </vt:lpstr>
      <vt:lpstr>ABSTRACT </vt:lpstr>
      <vt:lpstr>OBJECTIVES </vt:lpstr>
      <vt:lpstr>PowerPoint Presentation</vt:lpstr>
      <vt:lpstr>DATASET DESCRIPTION </vt:lpstr>
      <vt:lpstr>DATA CLEANING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FINDINGS </vt:lpstr>
      <vt:lpstr>CONCLUSION </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Lakshay</dc:creator>
  <cp:lastModifiedBy>Lakshay</cp:lastModifiedBy>
  <cp:revision>2</cp:revision>
  <dcterms:created xsi:type="dcterms:W3CDTF">2026-05-19T11:39:39Z</dcterms:created>
  <dcterms:modified xsi:type="dcterms:W3CDTF">2026-05-19T12:28:58Z</dcterms:modified>
</cp:coreProperties>
</file>